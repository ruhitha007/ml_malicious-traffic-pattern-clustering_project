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Flows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BENIGN</c:v>
                </c:pt>
                <c:pt idx="1">
                  <c:v>DoS Hulk</c:v>
                </c:pt>
                <c:pt idx="2">
                  <c:v>DDoS</c:v>
                </c:pt>
                <c:pt idx="3">
                  <c:v>PortScan</c:v>
                </c:pt>
                <c:pt idx="4">
                  <c:v>DoS GoldenEye</c:v>
                </c:pt>
                <c:pt idx="5">
                  <c:v>FTP-Patator</c:v>
                </c:pt>
                <c:pt idx="6">
                  <c:v>DoS slowloris</c:v>
                </c:pt>
                <c:pt idx="7">
                  <c:v>DoS Slowhttptest</c:v>
                </c:pt>
                <c:pt idx="8">
                  <c:v>SSH-Patator</c:v>
                </c:pt>
                <c:pt idx="9">
                  <c:v>Bot</c:v>
                </c:pt>
                <c:pt idx="10">
                  <c:v>Web Brute Force</c:v>
                </c:pt>
                <c:pt idx="11">
                  <c:v>Web XSS</c:v>
                </c:pt>
                <c:pt idx="12">
                  <c:v>Infiltration</c:v>
                </c:pt>
                <c:pt idx="13">
                  <c:v>Web SQL Injection</c:v>
                </c:pt>
                <c:pt idx="14">
                  <c:v>Heartbleed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2095057</c:v>
                </c:pt>
                <c:pt idx="1">
                  <c:v>172846</c:v>
                </c:pt>
                <c:pt idx="2">
                  <c:v>128014</c:v>
                </c:pt>
                <c:pt idx="3">
                  <c:v>90694</c:v>
                </c:pt>
                <c:pt idx="4">
                  <c:v>10286</c:v>
                </c:pt>
                <c:pt idx="5">
                  <c:v>5931</c:v>
                </c:pt>
                <c:pt idx="6">
                  <c:v>5385</c:v>
                </c:pt>
                <c:pt idx="7">
                  <c:v>5228</c:v>
                </c:pt>
                <c:pt idx="8">
                  <c:v>3219</c:v>
                </c:pt>
                <c:pt idx="9">
                  <c:v>1948</c:v>
                </c:pt>
                <c:pt idx="10">
                  <c:v>1470</c:v>
                </c:pt>
                <c:pt idx="11">
                  <c:v>652</c:v>
                </c:pt>
                <c:pt idx="12">
                  <c:v>36</c:v>
                </c:pt>
                <c:pt idx="13">
                  <c:v>21</c:v>
                </c:pt>
                <c:pt idx="1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E5-4B6B-86EC-00BB058759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4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logBase val="10"/>
          <c:orientation val="minMax"/>
          <c:min val="1"/>
        </c:scaling>
        <c:delete val="0"/>
        <c:axPos val="t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ln w="381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114839.1</c:v>
                </c:pt>
                <c:pt idx="1">
                  <c:v>95975.9</c:v>
                </c:pt>
                <c:pt idx="2">
                  <c:v>79864</c:v>
                </c:pt>
                <c:pt idx="3">
                  <c:v>63988.9</c:v>
                </c:pt>
                <c:pt idx="4">
                  <c:v>53046</c:v>
                </c:pt>
                <c:pt idx="5">
                  <c:v>44304.4</c:v>
                </c:pt>
                <c:pt idx="6">
                  <c:v>36947.300000000003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91-4AED-A7E0-AA54E8ECE5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8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778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ln w="38100" cap="flat">
              <a:solidFill>
                <a:srgbClr val="FF5C6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F5C6C"/>
              </a:solidFill>
              <a:ln w="9525" cap="flat">
                <a:solidFill>
                  <a:srgbClr val="FF5C6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0.33700000000000002</c:v>
                </c:pt>
                <c:pt idx="1">
                  <c:v>0.376</c:v>
                </c:pt>
                <c:pt idx="2">
                  <c:v>0.38400000000000001</c:v>
                </c:pt>
                <c:pt idx="3">
                  <c:v>0.38500000000000001</c:v>
                </c:pt>
                <c:pt idx="4">
                  <c:v>0.36299999999999999</c:v>
                </c:pt>
                <c:pt idx="5">
                  <c:v>0.38400000000000001</c:v>
                </c:pt>
                <c:pt idx="6">
                  <c:v>0.45400000000000001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08-4B1C-87A0-91AD53EA3D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8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778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.3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26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unsupervised look at network traffic using K-Means and Hierarchical Clustering, with an interactive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lots of traffic, few labels. Flow records summarise each connection without looking at payloads.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angles: the problem itself, what makes it hard, and who feels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83% figure comes from our 20,000-flow stratified sample: 16,622 benign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main objective, five specific ones that map to the pipeline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common approaches. Neither is wrong; each leaves a gap our approach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maps a limitation of existing approaches to a concrete design choice in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input, preprocessing and features, algorithms, projection and evaluation, output. The label column is deliberately kept off the training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in each step are the real counts from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database is needed: the dashboard reads one exported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Authentication and a database are not part of this prototype; it is a local, single-user analysis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corrected step: duplicates are removed on all 78 features BEFORE narrowing to 7 columns. Doing it after wrongly removed most PortScan flows (18 left in the sample instead of 720).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are after removing NaN/inf rows and duplicates on all 78 features (2,520,798 flows). Benign dominates; rare attack classes have only a handful of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Dropped for redundancy: Total Backward Packets and Total Length of Bwd Packets (r about 1.0 with Total Fwd Packets); Average Packet Size and Packet Length Std (r 0.91-0.95 with payload size). Highest correlation among the final 7 is 0.52 (Flow Duration vs Flow IAT Mean).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 is used only to draw the clusters; clustering itself runs on the 7 scaled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Accuracy, precision, recall and F1 are supervised metrics and do not apply because no labels were used in training. K-Means wins all three internal metrics on this sample. The elbow/silhouette values are for the 20,000-flow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Percentages are of each attack label's flows in the 20,000-flow sample. Cluster names describe behaviour; they are not attack verdicts. Benign traffic is the majority in every cluster, so a cluster is attack-enriched, never attack-pure.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dashboard live: toggle the algorithm, rotate the 3D view, click a point to see its flow details, then show Panel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honest-evaluation point: labels are held out and used only to interpret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approach supports analysts; it does not replace signature or supervised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no timestamps means no hour/month analysis, and the sample is under 1% of the cleaned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horizons: refine the model, extend the data, then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key outcome: behaviour-based clusters with uneven attack concentration, evaluated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CASE-STUDY BASED REPORT  ·  MACHINE LEARNING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Malicious Traffic Pattern Clustering Using K-Means and Hierarchical Clustering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kern="0" spc="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P.Ruhitha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Roll 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2520080053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M.Ananya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Roll 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2520080069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32461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kern="0" spc="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Y. Lakshmi Prasanna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Professor, Dept. of CS&amp;IT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26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Artificial Intelligence &amp; Data Science   ·   A.Y. 2026-27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(KL University)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005126" y="1787504"/>
            <a:ext cx="64012" cy="64012"/>
          </a:xfrm>
          <a:prstGeom prst="ellipse">
            <a:avLst/>
          </a:prstGeom>
          <a:solidFill>
            <a:srgbClr val="2DD4C8">
              <a:alpha val="59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302001" y="1700598"/>
            <a:ext cx="112339" cy="112339"/>
          </a:xfrm>
          <a:prstGeom prst="ellipse">
            <a:avLst/>
          </a:prstGeom>
          <a:solidFill>
            <a:srgbClr val="2DD4C8">
              <a:alpha val="61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861049" y="1930836"/>
            <a:ext cx="108689" cy="108689"/>
          </a:xfrm>
          <a:prstGeom prst="ellipse">
            <a:avLst/>
          </a:prstGeom>
          <a:solidFill>
            <a:srgbClr val="2DD4C8">
              <a:alpha val="68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333121" y="2117335"/>
            <a:ext cx="123098" cy="123098"/>
          </a:xfrm>
          <a:prstGeom prst="ellipse">
            <a:avLst/>
          </a:prstGeom>
          <a:solidFill>
            <a:srgbClr val="2DD4C8">
              <a:alpha val="7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77249" y="1825474"/>
            <a:ext cx="117594" cy="117594"/>
          </a:xfrm>
          <a:prstGeom prst="ellipse">
            <a:avLst/>
          </a:prstGeom>
          <a:solidFill>
            <a:srgbClr val="2DD4C8">
              <a:alpha val="66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863915" y="1732353"/>
            <a:ext cx="110687" cy="110687"/>
          </a:xfrm>
          <a:prstGeom prst="ellipse">
            <a:avLst/>
          </a:prstGeom>
          <a:solidFill>
            <a:srgbClr val="2DD4C8">
              <a:alpha val="79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65180" y="2068532"/>
            <a:ext cx="122189" cy="122189"/>
          </a:xfrm>
          <a:prstGeom prst="ellipse">
            <a:avLst/>
          </a:prstGeom>
          <a:solidFill>
            <a:srgbClr val="2DD4C8">
              <a:alpha val="80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771401" y="1725441"/>
            <a:ext cx="89971" cy="89971"/>
          </a:xfrm>
          <a:prstGeom prst="ellipse">
            <a:avLst/>
          </a:prstGeom>
          <a:solidFill>
            <a:srgbClr val="2DD4C8">
              <a:alpha val="77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364161" y="1822697"/>
            <a:ext cx="122031" cy="122031"/>
          </a:xfrm>
          <a:prstGeom prst="ellipse">
            <a:avLst/>
          </a:prstGeom>
          <a:solidFill>
            <a:srgbClr val="2DD4C8">
              <a:alpha val="61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961889" y="1610102"/>
            <a:ext cx="124148" cy="124148"/>
          </a:xfrm>
          <a:prstGeom prst="ellipse">
            <a:avLst/>
          </a:prstGeom>
          <a:solidFill>
            <a:srgbClr val="2DD4C8">
              <a:alpha val="72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64811" y="1264490"/>
            <a:ext cx="114877" cy="114877"/>
          </a:xfrm>
          <a:prstGeom prst="ellipse">
            <a:avLst/>
          </a:prstGeom>
          <a:solidFill>
            <a:srgbClr val="2DD4C8">
              <a:alpha val="83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720855" y="1566084"/>
            <a:ext cx="127773" cy="127773"/>
          </a:xfrm>
          <a:prstGeom prst="ellipse">
            <a:avLst/>
          </a:prstGeom>
          <a:solidFill>
            <a:srgbClr val="2DD4C8">
              <a:alpha val="53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852046" y="1488846"/>
            <a:ext cx="120627" cy="120627"/>
          </a:xfrm>
          <a:prstGeom prst="ellipse">
            <a:avLst/>
          </a:prstGeom>
          <a:solidFill>
            <a:srgbClr val="2DD4C8">
              <a:alpha val="77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22402" y="1966711"/>
            <a:ext cx="68875" cy="68875"/>
          </a:xfrm>
          <a:prstGeom prst="ellipse">
            <a:avLst/>
          </a:prstGeom>
          <a:solidFill>
            <a:srgbClr val="2DD4C8">
              <a:alpha val="77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60670" y="1249401"/>
            <a:ext cx="120469" cy="120469"/>
          </a:xfrm>
          <a:prstGeom prst="ellipse">
            <a:avLst/>
          </a:prstGeom>
          <a:solidFill>
            <a:srgbClr val="2DD4C8">
              <a:alpha val="5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88514" y="1859242"/>
            <a:ext cx="104777" cy="104777"/>
          </a:xfrm>
          <a:prstGeom prst="ellipse">
            <a:avLst/>
          </a:prstGeom>
          <a:solidFill>
            <a:srgbClr val="2DD4C8">
              <a:alpha val="62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720520" y="1749689"/>
            <a:ext cx="81051" cy="81051"/>
          </a:xfrm>
          <a:prstGeom prst="ellipse">
            <a:avLst/>
          </a:prstGeom>
          <a:solidFill>
            <a:srgbClr val="2DD4C8">
              <a:alpha val="61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64740" y="1853477"/>
            <a:ext cx="95896" cy="95896"/>
          </a:xfrm>
          <a:prstGeom prst="ellipse">
            <a:avLst/>
          </a:prstGeom>
          <a:solidFill>
            <a:srgbClr val="2DD4C8">
              <a:alpha val="8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935758" y="1700437"/>
            <a:ext cx="120536" cy="120536"/>
          </a:xfrm>
          <a:prstGeom prst="ellipse">
            <a:avLst/>
          </a:prstGeom>
          <a:solidFill>
            <a:srgbClr val="2DD4C8">
              <a:alpha val="60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48556" y="1900416"/>
            <a:ext cx="120477" cy="120477"/>
          </a:xfrm>
          <a:prstGeom prst="ellipse">
            <a:avLst/>
          </a:prstGeom>
          <a:solidFill>
            <a:srgbClr val="2DD4C8">
              <a:alpha val="6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46983" y="1735068"/>
            <a:ext cx="111047" cy="111047"/>
          </a:xfrm>
          <a:prstGeom prst="ellipse">
            <a:avLst/>
          </a:prstGeom>
          <a:solidFill>
            <a:srgbClr val="2DD4C8">
              <a:alpha val="51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387008" y="1615589"/>
            <a:ext cx="104487" cy="104487"/>
          </a:xfrm>
          <a:prstGeom prst="ellipse">
            <a:avLst/>
          </a:prstGeom>
          <a:solidFill>
            <a:srgbClr val="2DD4C8">
              <a:alpha val="66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35507" y="1614126"/>
            <a:ext cx="113384" cy="113384"/>
          </a:xfrm>
          <a:prstGeom prst="ellipse">
            <a:avLst/>
          </a:prstGeom>
          <a:solidFill>
            <a:srgbClr val="2DD4C8">
              <a:alpha val="67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143118" y="1504591"/>
            <a:ext cx="99950" cy="99950"/>
          </a:xfrm>
          <a:prstGeom prst="ellipse">
            <a:avLst/>
          </a:prstGeom>
          <a:solidFill>
            <a:srgbClr val="2DD4C8">
              <a:alpha val="67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890458" y="1553047"/>
            <a:ext cx="76986" cy="76986"/>
          </a:xfrm>
          <a:prstGeom prst="ellipse">
            <a:avLst/>
          </a:prstGeom>
          <a:solidFill>
            <a:srgbClr val="2DD4C8">
              <a:alpha val="58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733231" y="1872370"/>
            <a:ext cx="116678" cy="116678"/>
          </a:xfrm>
          <a:prstGeom prst="ellipse">
            <a:avLst/>
          </a:prstGeom>
          <a:solidFill>
            <a:srgbClr val="2DD4C8">
              <a:alpha val="6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70848" y="1064371"/>
            <a:ext cx="110352" cy="110352"/>
          </a:xfrm>
          <a:prstGeom prst="ellipse">
            <a:avLst/>
          </a:prstGeom>
          <a:solidFill>
            <a:srgbClr val="2DD4C8">
              <a:alpha val="85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905114" y="1529090"/>
            <a:ext cx="102736" cy="102736"/>
          </a:xfrm>
          <a:prstGeom prst="ellipse">
            <a:avLst/>
          </a:prstGeom>
          <a:solidFill>
            <a:srgbClr val="2DD4C8">
              <a:alpha val="70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306976" y="1394185"/>
            <a:ext cx="127629" cy="127629"/>
          </a:xfrm>
          <a:prstGeom prst="ellipse">
            <a:avLst/>
          </a:prstGeom>
          <a:solidFill>
            <a:srgbClr val="2DD4C8">
              <a:alpha val="77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428773" y="1375814"/>
            <a:ext cx="115703" cy="115703"/>
          </a:xfrm>
          <a:prstGeom prst="ellipse">
            <a:avLst/>
          </a:prstGeom>
          <a:solidFill>
            <a:srgbClr val="2DD4C8">
              <a:alpha val="6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721344" y="2028444"/>
            <a:ext cx="74923" cy="74923"/>
          </a:xfrm>
          <a:prstGeom prst="ellipse">
            <a:avLst/>
          </a:prstGeom>
          <a:solidFill>
            <a:srgbClr val="2DD4C8">
              <a:alpha val="83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270338" y="1319874"/>
            <a:ext cx="90470" cy="90470"/>
          </a:xfrm>
          <a:prstGeom prst="ellipse">
            <a:avLst/>
          </a:prstGeom>
          <a:solidFill>
            <a:srgbClr val="2DD4C8">
              <a:alpha val="53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431034" y="2244985"/>
            <a:ext cx="113772" cy="113772"/>
          </a:xfrm>
          <a:prstGeom prst="ellipse">
            <a:avLst/>
          </a:prstGeom>
          <a:solidFill>
            <a:srgbClr val="2DD4C8">
              <a:alpha val="65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990536" y="1986610"/>
            <a:ext cx="86285" cy="86285"/>
          </a:xfrm>
          <a:prstGeom prst="ellipse">
            <a:avLst/>
          </a:prstGeom>
          <a:solidFill>
            <a:srgbClr val="2DD4C8">
              <a:alpha val="63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875096" y="1947125"/>
            <a:ext cx="110668" cy="110668"/>
          </a:xfrm>
          <a:prstGeom prst="ellipse">
            <a:avLst/>
          </a:prstGeom>
          <a:solidFill>
            <a:srgbClr val="2DD4C8">
              <a:alpha val="51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927393" y="2232040"/>
            <a:ext cx="86908" cy="86908"/>
          </a:xfrm>
          <a:prstGeom prst="ellipse">
            <a:avLst/>
          </a:prstGeom>
          <a:solidFill>
            <a:srgbClr val="2DD4C8">
              <a:alpha val="58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817511" y="2204216"/>
            <a:ext cx="77262" cy="77262"/>
          </a:xfrm>
          <a:prstGeom prst="ellipse">
            <a:avLst/>
          </a:prstGeom>
          <a:solidFill>
            <a:srgbClr val="2DD4C8">
              <a:alpha val="61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312181" y="1918920"/>
            <a:ext cx="98308" cy="98308"/>
          </a:xfrm>
          <a:prstGeom prst="ellipse">
            <a:avLst/>
          </a:prstGeom>
          <a:solidFill>
            <a:srgbClr val="2DD4C8">
              <a:alpha val="70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728495" y="2043992"/>
            <a:ext cx="89297" cy="89297"/>
          </a:xfrm>
          <a:prstGeom prst="ellipse">
            <a:avLst/>
          </a:prstGeom>
          <a:solidFill>
            <a:srgbClr val="2DD4C8">
              <a:alpha val="62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954137" y="1205403"/>
            <a:ext cx="120167" cy="120167"/>
          </a:xfrm>
          <a:prstGeom prst="ellipse">
            <a:avLst/>
          </a:prstGeom>
          <a:solidFill>
            <a:srgbClr val="2DD4C8">
              <a:alpha val="85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912807" y="1914206"/>
            <a:ext cx="108357" cy="108357"/>
          </a:xfrm>
          <a:prstGeom prst="ellipse">
            <a:avLst/>
          </a:prstGeom>
          <a:solidFill>
            <a:srgbClr val="2DD4C8">
              <a:alpha val="81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004365" y="1578506"/>
            <a:ext cx="104114" cy="104114"/>
          </a:xfrm>
          <a:prstGeom prst="ellipse">
            <a:avLst/>
          </a:prstGeom>
          <a:solidFill>
            <a:srgbClr val="2DD4C8">
              <a:alpha val="60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335672" y="2030170"/>
            <a:ext cx="125139" cy="125139"/>
          </a:xfrm>
          <a:prstGeom prst="ellipse">
            <a:avLst/>
          </a:prstGeom>
          <a:solidFill>
            <a:srgbClr val="2DD4C8">
              <a:alpha val="82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004281" y="1514600"/>
            <a:ext cx="66912" cy="66912"/>
          </a:xfrm>
          <a:prstGeom prst="ellipse">
            <a:avLst/>
          </a:prstGeom>
          <a:solidFill>
            <a:srgbClr val="2DD4C8">
              <a:alpha val="63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855726" y="1950991"/>
            <a:ext cx="116036" cy="116036"/>
          </a:xfrm>
          <a:prstGeom prst="ellipse">
            <a:avLst/>
          </a:prstGeom>
          <a:solidFill>
            <a:srgbClr val="2DD4C8">
              <a:alpha val="62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075147" y="2074326"/>
            <a:ext cx="115513" cy="115513"/>
          </a:xfrm>
          <a:prstGeom prst="ellipse">
            <a:avLst/>
          </a:prstGeom>
          <a:solidFill>
            <a:srgbClr val="2DD4C8">
              <a:alpha val="58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364346" y="1462786"/>
            <a:ext cx="110550" cy="110550"/>
          </a:xfrm>
          <a:prstGeom prst="ellipse">
            <a:avLst/>
          </a:prstGeom>
          <a:solidFill>
            <a:srgbClr val="2DD4C8">
              <a:alpha val="52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317691" y="2432524"/>
            <a:ext cx="125122" cy="125122"/>
          </a:xfrm>
          <a:prstGeom prst="ellipse">
            <a:avLst/>
          </a:prstGeom>
          <a:solidFill>
            <a:srgbClr val="2DD4C8">
              <a:alpha val="76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762705" y="1433205"/>
            <a:ext cx="76698" cy="76698"/>
          </a:xfrm>
          <a:prstGeom prst="ellipse">
            <a:avLst/>
          </a:prstGeom>
          <a:solidFill>
            <a:srgbClr val="2DD4C8">
              <a:alpha val="78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567048" y="2013999"/>
            <a:ext cx="67527" cy="67527"/>
          </a:xfrm>
          <a:prstGeom prst="ellipse">
            <a:avLst/>
          </a:prstGeom>
          <a:solidFill>
            <a:srgbClr val="2DD4C8">
              <a:alpha val="68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371311" y="2255373"/>
            <a:ext cx="108838" cy="108838"/>
          </a:xfrm>
          <a:prstGeom prst="ellipse">
            <a:avLst/>
          </a:prstGeom>
          <a:solidFill>
            <a:srgbClr val="2DD4C8">
              <a:alpha val="6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698441" y="1804667"/>
            <a:ext cx="115388" cy="115388"/>
          </a:xfrm>
          <a:prstGeom prst="ellipse">
            <a:avLst/>
          </a:prstGeom>
          <a:solidFill>
            <a:srgbClr val="2DD4C8">
              <a:alpha val="72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231880" y="1407617"/>
            <a:ext cx="95656" cy="95656"/>
          </a:xfrm>
          <a:prstGeom prst="ellipse">
            <a:avLst/>
          </a:prstGeom>
          <a:solidFill>
            <a:srgbClr val="2DD4C8">
              <a:alpha val="63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649058" y="1837237"/>
            <a:ext cx="72036" cy="72036"/>
          </a:xfrm>
          <a:prstGeom prst="ellipse">
            <a:avLst/>
          </a:prstGeom>
          <a:solidFill>
            <a:srgbClr val="2DD4C8">
              <a:alpha val="7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203600" y="1924825"/>
            <a:ext cx="89760" cy="89760"/>
          </a:xfrm>
          <a:prstGeom prst="ellipse">
            <a:avLst/>
          </a:prstGeom>
          <a:solidFill>
            <a:srgbClr val="2DD4C8">
              <a:alpha val="71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180377" y="1967872"/>
            <a:ext cx="66134" cy="66134"/>
          </a:xfrm>
          <a:prstGeom prst="ellipse">
            <a:avLst/>
          </a:prstGeom>
          <a:solidFill>
            <a:srgbClr val="2DD4C8">
              <a:alpha val="7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013934" y="2037307"/>
            <a:ext cx="93402" cy="93402"/>
          </a:xfrm>
          <a:prstGeom prst="ellipse">
            <a:avLst/>
          </a:prstGeom>
          <a:solidFill>
            <a:srgbClr val="2DD4C8">
              <a:alpha val="55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758561" y="1840965"/>
            <a:ext cx="116480" cy="116480"/>
          </a:xfrm>
          <a:prstGeom prst="ellipse">
            <a:avLst/>
          </a:prstGeom>
          <a:solidFill>
            <a:srgbClr val="2DD4C8">
              <a:alpha val="7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170266" y="2054838"/>
            <a:ext cx="119311" cy="119311"/>
          </a:xfrm>
          <a:prstGeom prst="ellipse">
            <a:avLst/>
          </a:prstGeom>
          <a:solidFill>
            <a:srgbClr val="2DD4C8">
              <a:alpha val="56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354777" y="2020797"/>
            <a:ext cx="66732" cy="66732"/>
          </a:xfrm>
          <a:prstGeom prst="ellipse">
            <a:avLst/>
          </a:prstGeom>
          <a:solidFill>
            <a:srgbClr val="2DD4C8">
              <a:alpha val="56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114286" y="1673711"/>
            <a:ext cx="119404" cy="119404"/>
          </a:xfrm>
          <a:prstGeom prst="ellipse">
            <a:avLst/>
          </a:prstGeom>
          <a:solidFill>
            <a:srgbClr val="2DD4C8">
              <a:alpha val="59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9809117" y="1886796"/>
            <a:ext cx="97139" cy="97139"/>
          </a:xfrm>
          <a:prstGeom prst="ellipse">
            <a:avLst/>
          </a:prstGeom>
          <a:solidFill>
            <a:srgbClr val="2DD4C8">
              <a:alpha val="77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0432733" y="1731951"/>
            <a:ext cx="103309" cy="103309"/>
          </a:xfrm>
          <a:prstGeom prst="ellipse">
            <a:avLst/>
          </a:prstGeom>
          <a:solidFill>
            <a:srgbClr val="2DD4C8">
              <a:alpha val="63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380146" y="1925016"/>
            <a:ext cx="100562" cy="100562"/>
          </a:xfrm>
          <a:prstGeom prst="ellipse">
            <a:avLst/>
          </a:prstGeom>
          <a:solidFill>
            <a:srgbClr val="2DD4C8">
              <a:alpha val="63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9636689" y="1289667"/>
            <a:ext cx="88924" cy="88924"/>
          </a:xfrm>
          <a:prstGeom prst="ellipse">
            <a:avLst/>
          </a:prstGeom>
          <a:solidFill>
            <a:srgbClr val="2DD4C8">
              <a:alpha val="72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0055266" y="1580440"/>
            <a:ext cx="69860" cy="69860"/>
          </a:xfrm>
          <a:prstGeom prst="ellipse">
            <a:avLst/>
          </a:prstGeom>
          <a:solidFill>
            <a:srgbClr val="2DD4C8">
              <a:alpha val="75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615805" y="1978583"/>
            <a:ext cx="71786" cy="71786"/>
          </a:xfrm>
          <a:prstGeom prst="ellipse">
            <a:avLst/>
          </a:prstGeom>
          <a:solidFill>
            <a:srgbClr val="2DD4C8">
              <a:alpha val="58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173662" y="2149540"/>
            <a:ext cx="95522" cy="95522"/>
          </a:xfrm>
          <a:prstGeom prst="ellipse">
            <a:avLst/>
          </a:prstGeom>
          <a:solidFill>
            <a:srgbClr val="2DD4C8">
              <a:alpha val="65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939610" y="1609579"/>
            <a:ext cx="125919" cy="125919"/>
          </a:xfrm>
          <a:prstGeom prst="ellipse">
            <a:avLst/>
          </a:prstGeom>
          <a:solidFill>
            <a:srgbClr val="2DD4C8">
              <a:alpha val="5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938031" y="1887624"/>
            <a:ext cx="110313" cy="110313"/>
          </a:xfrm>
          <a:prstGeom prst="ellipse">
            <a:avLst/>
          </a:prstGeom>
          <a:solidFill>
            <a:srgbClr val="2DD4C8">
              <a:alpha val="62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9914951" y="1936855"/>
            <a:ext cx="101235" cy="101235"/>
          </a:xfrm>
          <a:prstGeom prst="ellipse">
            <a:avLst/>
          </a:prstGeom>
          <a:solidFill>
            <a:srgbClr val="2DD4C8">
              <a:alpha val="61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0214441" y="2062391"/>
            <a:ext cx="107645" cy="107645"/>
          </a:xfrm>
          <a:prstGeom prst="ellipse">
            <a:avLst/>
          </a:prstGeom>
          <a:solidFill>
            <a:srgbClr val="2DD4C8">
              <a:alpha val="78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742882" y="2281607"/>
            <a:ext cx="104337" cy="104337"/>
          </a:xfrm>
          <a:prstGeom prst="ellipse">
            <a:avLst/>
          </a:prstGeom>
          <a:solidFill>
            <a:srgbClr val="2DD4C8">
              <a:alpha val="75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481909" y="1400891"/>
            <a:ext cx="111651" cy="111651"/>
          </a:xfrm>
          <a:prstGeom prst="ellipse">
            <a:avLst/>
          </a:prstGeom>
          <a:solidFill>
            <a:srgbClr val="2DD4C8">
              <a:alpha val="70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520303" y="1466185"/>
            <a:ext cx="67034" cy="67034"/>
          </a:xfrm>
          <a:prstGeom prst="ellipse">
            <a:avLst/>
          </a:prstGeom>
          <a:solidFill>
            <a:srgbClr val="2DD4C8">
              <a:alpha val="71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543815" y="1776473"/>
            <a:ext cx="84323" cy="84323"/>
          </a:xfrm>
          <a:prstGeom prst="ellipse">
            <a:avLst/>
          </a:prstGeom>
          <a:solidFill>
            <a:srgbClr val="2DD4C8">
              <a:alpha val="66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706171" y="2163031"/>
            <a:ext cx="91656" cy="91656"/>
          </a:xfrm>
          <a:prstGeom prst="ellipse">
            <a:avLst/>
          </a:prstGeom>
          <a:solidFill>
            <a:srgbClr val="2DD4C8">
              <a:alpha val="63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9701271" y="1452404"/>
            <a:ext cx="89900" cy="89900"/>
          </a:xfrm>
          <a:prstGeom prst="ellipse">
            <a:avLst/>
          </a:prstGeom>
          <a:solidFill>
            <a:srgbClr val="2DD4C8">
              <a:alpha val="77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9478235" y="1842609"/>
            <a:ext cx="106663" cy="106663"/>
          </a:xfrm>
          <a:prstGeom prst="ellipse">
            <a:avLst/>
          </a:prstGeom>
          <a:solidFill>
            <a:srgbClr val="2DD4C8">
              <a:alpha val="59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10732117" y="1576910"/>
            <a:ext cx="64925" cy="64925"/>
          </a:xfrm>
          <a:prstGeom prst="ellipse">
            <a:avLst/>
          </a:prstGeom>
          <a:solidFill>
            <a:srgbClr val="2DD4C8">
              <a:alpha val="84000"/>
            </a:srgbClr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10860442" y="3635014"/>
            <a:ext cx="126940" cy="126940"/>
          </a:xfrm>
          <a:prstGeom prst="ellipse">
            <a:avLst/>
          </a:prstGeom>
          <a:solidFill>
            <a:srgbClr val="FF5C6C">
              <a:alpha val="85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0949658" y="3276596"/>
            <a:ext cx="71338" cy="71338"/>
          </a:xfrm>
          <a:prstGeom prst="ellipse">
            <a:avLst/>
          </a:prstGeom>
          <a:solidFill>
            <a:srgbClr val="FF5C6C">
              <a:alpha val="62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11267186" y="3291945"/>
            <a:ext cx="104423" cy="104423"/>
          </a:xfrm>
          <a:prstGeom prst="ellipse">
            <a:avLst/>
          </a:prstGeom>
          <a:solidFill>
            <a:srgbClr val="FF5C6C">
              <a:alpha val="54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0953652" y="3455127"/>
            <a:ext cx="74223" cy="74223"/>
          </a:xfrm>
          <a:prstGeom prst="ellipse">
            <a:avLst/>
          </a:prstGeom>
          <a:solidFill>
            <a:srgbClr val="FF5C6C">
              <a:alpha val="66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0448595" y="3567597"/>
            <a:ext cx="106305" cy="106305"/>
          </a:xfrm>
          <a:prstGeom prst="ellipse">
            <a:avLst/>
          </a:prstGeom>
          <a:solidFill>
            <a:srgbClr val="FF5C6C">
              <a:alpha val="67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0721102" y="3413322"/>
            <a:ext cx="72244" cy="72244"/>
          </a:xfrm>
          <a:prstGeom prst="ellipse">
            <a:avLst/>
          </a:prstGeom>
          <a:solidFill>
            <a:srgbClr val="FF5C6C">
              <a:alpha val="78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0822433" y="3401330"/>
            <a:ext cx="68287" cy="68287"/>
          </a:xfrm>
          <a:prstGeom prst="ellipse">
            <a:avLst/>
          </a:prstGeom>
          <a:solidFill>
            <a:srgbClr val="FF5C6C">
              <a:alpha val="60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1321086" y="3257604"/>
            <a:ext cx="120969" cy="120969"/>
          </a:xfrm>
          <a:prstGeom prst="ellipse">
            <a:avLst/>
          </a:prstGeom>
          <a:solidFill>
            <a:srgbClr val="FF5C6C">
              <a:alpha val="85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0552175" y="2963668"/>
            <a:ext cx="71831" cy="71831"/>
          </a:xfrm>
          <a:prstGeom prst="ellipse">
            <a:avLst/>
          </a:prstGeom>
          <a:solidFill>
            <a:srgbClr val="FF5C6C">
              <a:alpha val="63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1079256" y="3383915"/>
            <a:ext cx="79658" cy="79658"/>
          </a:xfrm>
          <a:prstGeom prst="ellipse">
            <a:avLst/>
          </a:prstGeom>
          <a:solidFill>
            <a:srgbClr val="FF5C6C">
              <a:alpha val="76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924027" y="3613876"/>
            <a:ext cx="99005" cy="99005"/>
          </a:xfrm>
          <a:prstGeom prst="ellipse">
            <a:avLst/>
          </a:prstGeom>
          <a:solidFill>
            <a:srgbClr val="FF5C6C">
              <a:alpha val="71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1550690" y="3548225"/>
            <a:ext cx="86954" cy="86954"/>
          </a:xfrm>
          <a:prstGeom prst="ellipse">
            <a:avLst/>
          </a:prstGeom>
          <a:solidFill>
            <a:srgbClr val="FF5C6C">
              <a:alpha val="61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1085762" y="3371346"/>
            <a:ext cx="100350" cy="100350"/>
          </a:xfrm>
          <a:prstGeom prst="ellipse">
            <a:avLst/>
          </a:prstGeom>
          <a:solidFill>
            <a:srgbClr val="FF5C6C">
              <a:alpha val="59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0678252" y="3231873"/>
            <a:ext cx="108295" cy="108295"/>
          </a:xfrm>
          <a:prstGeom prst="ellipse">
            <a:avLst/>
          </a:prstGeom>
          <a:solidFill>
            <a:srgbClr val="FF5C6C">
              <a:alpha val="66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11038621" y="3630783"/>
            <a:ext cx="123374" cy="123374"/>
          </a:xfrm>
          <a:prstGeom prst="ellipse">
            <a:avLst/>
          </a:prstGeom>
          <a:solidFill>
            <a:srgbClr val="FF5C6C">
              <a:alpha val="53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1131951" y="2913419"/>
            <a:ext cx="67557" cy="67557"/>
          </a:xfrm>
          <a:prstGeom prst="ellipse">
            <a:avLst/>
          </a:prstGeom>
          <a:solidFill>
            <a:srgbClr val="FF5C6C">
              <a:alpha val="75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10578929" y="3339447"/>
            <a:ext cx="87663" cy="87663"/>
          </a:xfrm>
          <a:prstGeom prst="ellipse">
            <a:avLst/>
          </a:prstGeom>
          <a:solidFill>
            <a:srgbClr val="FF5C6C">
              <a:alpha val="57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1047753" y="2944775"/>
            <a:ext cx="67353" cy="67353"/>
          </a:xfrm>
          <a:prstGeom prst="ellipse">
            <a:avLst/>
          </a:prstGeom>
          <a:solidFill>
            <a:srgbClr val="FF5C6C">
              <a:alpha val="84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11133295" y="3334260"/>
            <a:ext cx="81720" cy="81720"/>
          </a:xfrm>
          <a:prstGeom prst="ellipse">
            <a:avLst/>
          </a:prstGeom>
          <a:solidFill>
            <a:srgbClr val="FF5C6C">
              <a:alpha val="71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0735707" y="2918624"/>
            <a:ext cx="108872" cy="108872"/>
          </a:xfrm>
          <a:prstGeom prst="ellipse">
            <a:avLst/>
          </a:prstGeom>
          <a:solidFill>
            <a:srgbClr val="FF5C6C">
              <a:alpha val="78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1036793" y="3052645"/>
            <a:ext cx="103877" cy="103877"/>
          </a:xfrm>
          <a:prstGeom prst="ellipse">
            <a:avLst/>
          </a:prstGeom>
          <a:solidFill>
            <a:srgbClr val="FF5C6C">
              <a:alpha val="62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1012231" y="2993968"/>
            <a:ext cx="107514" cy="107514"/>
          </a:xfrm>
          <a:prstGeom prst="ellipse">
            <a:avLst/>
          </a:prstGeom>
          <a:solidFill>
            <a:srgbClr val="FF5C6C">
              <a:alpha val="74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0568780" y="3349394"/>
            <a:ext cx="76930" cy="76930"/>
          </a:xfrm>
          <a:prstGeom prst="ellipse">
            <a:avLst/>
          </a:prstGeom>
          <a:solidFill>
            <a:srgbClr val="FF5C6C">
              <a:alpha val="63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1382893" y="3405800"/>
            <a:ext cx="72150" cy="72150"/>
          </a:xfrm>
          <a:prstGeom prst="ellipse">
            <a:avLst/>
          </a:prstGeom>
          <a:solidFill>
            <a:srgbClr val="FF5C6C">
              <a:alpha val="72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0635770" y="3543758"/>
            <a:ext cx="92584" cy="92584"/>
          </a:xfrm>
          <a:prstGeom prst="ellipse">
            <a:avLst/>
          </a:prstGeom>
          <a:solidFill>
            <a:srgbClr val="FF5C6C">
              <a:alpha val="57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663178" y="3646954"/>
            <a:ext cx="118554" cy="118554"/>
          </a:xfrm>
          <a:prstGeom prst="ellipse">
            <a:avLst/>
          </a:prstGeom>
          <a:solidFill>
            <a:srgbClr val="FF5C6C">
              <a:alpha val="56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1056298" y="2911859"/>
            <a:ext cx="89699" cy="89699"/>
          </a:xfrm>
          <a:prstGeom prst="ellipse">
            <a:avLst/>
          </a:prstGeom>
          <a:solidFill>
            <a:srgbClr val="FF5C6C">
              <a:alpha val="67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0741384" y="3010416"/>
            <a:ext cx="95398" cy="95398"/>
          </a:xfrm>
          <a:prstGeom prst="ellipse">
            <a:avLst/>
          </a:prstGeom>
          <a:solidFill>
            <a:srgbClr val="FF5C6C">
              <a:alpha val="85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1338337" y="3598521"/>
            <a:ext cx="113302" cy="113302"/>
          </a:xfrm>
          <a:prstGeom prst="ellipse">
            <a:avLst/>
          </a:prstGeom>
          <a:solidFill>
            <a:srgbClr val="FF5C6C">
              <a:alpha val="72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10609561" y="2761747"/>
            <a:ext cx="122023" cy="122023"/>
          </a:xfrm>
          <a:prstGeom prst="ellipse">
            <a:avLst/>
          </a:prstGeom>
          <a:solidFill>
            <a:srgbClr val="FF5C6C">
              <a:alpha val="65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0343521" y="3722102"/>
            <a:ext cx="107291" cy="107291"/>
          </a:xfrm>
          <a:prstGeom prst="ellipse">
            <a:avLst/>
          </a:prstGeom>
          <a:solidFill>
            <a:srgbClr val="FF5C6C">
              <a:alpha val="57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1179053" y="3044586"/>
            <a:ext cx="124492" cy="124492"/>
          </a:xfrm>
          <a:prstGeom prst="ellipse">
            <a:avLst/>
          </a:prstGeom>
          <a:solidFill>
            <a:srgbClr val="FF5C6C">
              <a:alpha val="67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1092743" y="3465390"/>
            <a:ext cx="96926" cy="96926"/>
          </a:xfrm>
          <a:prstGeom prst="ellipse">
            <a:avLst/>
          </a:prstGeom>
          <a:solidFill>
            <a:srgbClr val="FF5C6C">
              <a:alpha val="85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1149547" y="2783193"/>
            <a:ext cx="66612" cy="66612"/>
          </a:xfrm>
          <a:prstGeom prst="ellipse">
            <a:avLst/>
          </a:prstGeom>
          <a:solidFill>
            <a:srgbClr val="FF5C6C">
              <a:alpha val="70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1161819" y="3391941"/>
            <a:ext cx="107129" cy="107129"/>
          </a:xfrm>
          <a:prstGeom prst="ellipse">
            <a:avLst/>
          </a:prstGeom>
          <a:solidFill>
            <a:srgbClr val="FF5C6C">
              <a:alpha val="70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10688724" y="3099891"/>
            <a:ext cx="85827" cy="85827"/>
          </a:xfrm>
          <a:prstGeom prst="ellipse">
            <a:avLst/>
          </a:prstGeom>
          <a:solidFill>
            <a:srgbClr val="FF5C6C">
              <a:alpha val="66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10808738" y="3304401"/>
            <a:ext cx="123305" cy="123305"/>
          </a:xfrm>
          <a:prstGeom prst="ellipse">
            <a:avLst/>
          </a:prstGeom>
          <a:solidFill>
            <a:srgbClr val="FF5C6C">
              <a:alpha val="64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10963128" y="3580325"/>
            <a:ext cx="80333" cy="80333"/>
          </a:xfrm>
          <a:prstGeom prst="ellipse">
            <a:avLst/>
          </a:prstGeom>
          <a:solidFill>
            <a:srgbClr val="FF5C6C">
              <a:alpha val="52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10631998" y="3188143"/>
            <a:ext cx="120133" cy="120133"/>
          </a:xfrm>
          <a:prstGeom prst="ellipse">
            <a:avLst/>
          </a:prstGeom>
          <a:solidFill>
            <a:srgbClr val="FF5C6C">
              <a:alpha val="77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11126211" y="2890079"/>
            <a:ext cx="89279" cy="89279"/>
          </a:xfrm>
          <a:prstGeom prst="ellipse">
            <a:avLst/>
          </a:prstGeom>
          <a:solidFill>
            <a:srgbClr val="FF5C6C">
              <a:alpha val="84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1336339" y="3313804"/>
            <a:ext cx="122714" cy="122714"/>
          </a:xfrm>
          <a:prstGeom prst="ellipse">
            <a:avLst/>
          </a:prstGeom>
          <a:solidFill>
            <a:srgbClr val="FF5C6C">
              <a:alpha val="81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1122832" y="3136853"/>
            <a:ext cx="92831" cy="92831"/>
          </a:xfrm>
          <a:prstGeom prst="ellipse">
            <a:avLst/>
          </a:prstGeom>
          <a:solidFill>
            <a:srgbClr val="FF5C6C">
              <a:alpha val="55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0838791" y="3431689"/>
            <a:ext cx="117957" cy="117957"/>
          </a:xfrm>
          <a:prstGeom prst="ellipse">
            <a:avLst/>
          </a:prstGeom>
          <a:solidFill>
            <a:srgbClr val="FF5C6C">
              <a:alpha val="76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10952199" y="3660110"/>
            <a:ext cx="69405" cy="69405"/>
          </a:xfrm>
          <a:prstGeom prst="ellipse">
            <a:avLst/>
          </a:prstGeom>
          <a:solidFill>
            <a:srgbClr val="FF5C6C">
              <a:alpha val="56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1106307" y="3446652"/>
            <a:ext cx="111230" cy="111230"/>
          </a:xfrm>
          <a:prstGeom prst="ellipse">
            <a:avLst/>
          </a:prstGeom>
          <a:solidFill>
            <a:srgbClr val="FF5C6C">
              <a:alpha val="61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11117698" y="2971310"/>
            <a:ext cx="101773" cy="101773"/>
          </a:xfrm>
          <a:prstGeom prst="ellipse">
            <a:avLst/>
          </a:prstGeom>
          <a:solidFill>
            <a:srgbClr val="FF5C6C">
              <a:alpha val="56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11191563" y="3296494"/>
            <a:ext cx="77887" cy="77887"/>
          </a:xfrm>
          <a:prstGeom prst="ellipse">
            <a:avLst/>
          </a:prstGeom>
          <a:solidFill>
            <a:srgbClr val="FF5C6C">
              <a:alpha val="57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10880041" y="2965148"/>
            <a:ext cx="64026" cy="64026"/>
          </a:xfrm>
          <a:prstGeom prst="ellipse">
            <a:avLst/>
          </a:prstGeom>
          <a:solidFill>
            <a:srgbClr val="FF5C6C">
              <a:alpha val="51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10763941" y="3195594"/>
            <a:ext cx="102148" cy="102148"/>
          </a:xfrm>
          <a:prstGeom prst="ellipse">
            <a:avLst/>
          </a:prstGeom>
          <a:solidFill>
            <a:srgbClr val="FF5C6C">
              <a:alpha val="77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10915851" y="3282799"/>
            <a:ext cx="105140" cy="105140"/>
          </a:xfrm>
          <a:prstGeom prst="ellipse">
            <a:avLst/>
          </a:prstGeom>
          <a:solidFill>
            <a:srgbClr val="FF5C6C">
              <a:alpha val="51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10864062" y="3460128"/>
            <a:ext cx="81295" cy="81295"/>
          </a:xfrm>
          <a:prstGeom prst="ellipse">
            <a:avLst/>
          </a:prstGeom>
          <a:solidFill>
            <a:srgbClr val="FF5C6C">
              <a:alpha val="61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11203302" y="2909581"/>
            <a:ext cx="107075" cy="107075"/>
          </a:xfrm>
          <a:prstGeom prst="ellipse">
            <a:avLst/>
          </a:prstGeom>
          <a:solidFill>
            <a:srgbClr val="FF5C6C">
              <a:alpha val="69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10833895" y="3759010"/>
            <a:ext cx="86587" cy="86587"/>
          </a:xfrm>
          <a:prstGeom prst="ellipse">
            <a:avLst/>
          </a:prstGeom>
          <a:solidFill>
            <a:srgbClr val="FF5C6C">
              <a:alpha val="68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11249091" y="3475701"/>
            <a:ext cx="101850" cy="101850"/>
          </a:xfrm>
          <a:prstGeom prst="ellipse">
            <a:avLst/>
          </a:prstGeom>
          <a:solidFill>
            <a:srgbClr val="FF5C6C">
              <a:alpha val="61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11416776" y="3103872"/>
            <a:ext cx="111403" cy="111403"/>
          </a:xfrm>
          <a:prstGeom prst="ellipse">
            <a:avLst/>
          </a:prstGeom>
          <a:solidFill>
            <a:srgbClr val="FF5C6C">
              <a:alpha val="53000"/>
            </a:srgbClr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9079906" y="3106195"/>
            <a:ext cx="74115" cy="74115"/>
          </a:xfrm>
          <a:prstGeom prst="ellipse">
            <a:avLst/>
          </a:prstGeom>
          <a:solidFill>
            <a:srgbClr val="FFB020">
              <a:alpha val="83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8659773" y="3364634"/>
            <a:ext cx="93337" cy="93337"/>
          </a:xfrm>
          <a:prstGeom prst="ellipse">
            <a:avLst/>
          </a:prstGeom>
          <a:solidFill>
            <a:srgbClr val="FFB020">
              <a:alpha val="78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9002634" y="3427354"/>
            <a:ext cx="67563" cy="67563"/>
          </a:xfrm>
          <a:prstGeom prst="ellipse">
            <a:avLst/>
          </a:prstGeom>
          <a:solidFill>
            <a:srgbClr val="FFB020">
              <a:alpha val="51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9031349" y="3364414"/>
            <a:ext cx="118583" cy="118583"/>
          </a:xfrm>
          <a:prstGeom prst="ellipse">
            <a:avLst/>
          </a:prstGeom>
          <a:solidFill>
            <a:srgbClr val="FFB020">
              <a:alpha val="80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8866443" y="3194665"/>
            <a:ext cx="126464" cy="126464"/>
          </a:xfrm>
          <a:prstGeom prst="ellipse">
            <a:avLst/>
          </a:prstGeom>
          <a:solidFill>
            <a:srgbClr val="FFB020">
              <a:alpha val="55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9169755" y="3364583"/>
            <a:ext cx="87969" cy="87969"/>
          </a:xfrm>
          <a:prstGeom prst="ellipse">
            <a:avLst/>
          </a:prstGeom>
          <a:solidFill>
            <a:srgbClr val="FFB020">
              <a:alpha val="68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8831694" y="3211094"/>
            <a:ext cx="86311" cy="86311"/>
          </a:xfrm>
          <a:prstGeom prst="ellipse">
            <a:avLst/>
          </a:prstGeom>
          <a:solidFill>
            <a:srgbClr val="FFB020">
              <a:alpha val="67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940324" y="3136862"/>
            <a:ext cx="120792" cy="120792"/>
          </a:xfrm>
          <a:prstGeom prst="ellipse">
            <a:avLst/>
          </a:prstGeom>
          <a:solidFill>
            <a:srgbClr val="FFB020">
              <a:alpha val="62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8832655" y="3162634"/>
            <a:ext cx="96354" cy="96354"/>
          </a:xfrm>
          <a:prstGeom prst="ellipse">
            <a:avLst/>
          </a:prstGeom>
          <a:solidFill>
            <a:srgbClr val="FFB020">
              <a:alpha val="57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9188592" y="3218053"/>
            <a:ext cx="73262" cy="73262"/>
          </a:xfrm>
          <a:prstGeom prst="ellipse">
            <a:avLst/>
          </a:prstGeom>
          <a:solidFill>
            <a:srgbClr val="FFB020">
              <a:alpha val="85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248261" y="3066797"/>
            <a:ext cx="91836" cy="91836"/>
          </a:xfrm>
          <a:prstGeom prst="ellipse">
            <a:avLst/>
          </a:prstGeom>
          <a:solidFill>
            <a:srgbClr val="FFB020">
              <a:alpha val="70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8894629" y="3145918"/>
            <a:ext cx="126148" cy="126148"/>
          </a:xfrm>
          <a:prstGeom prst="ellipse">
            <a:avLst/>
          </a:prstGeom>
          <a:solidFill>
            <a:srgbClr val="FFB020">
              <a:alpha val="76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999860" y="3442275"/>
            <a:ext cx="126878" cy="126878"/>
          </a:xfrm>
          <a:prstGeom prst="ellipse">
            <a:avLst/>
          </a:prstGeom>
          <a:solidFill>
            <a:srgbClr val="FFB020">
              <a:alpha val="55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872421" y="3273935"/>
            <a:ext cx="90874" cy="90874"/>
          </a:xfrm>
          <a:prstGeom prst="ellipse">
            <a:avLst/>
          </a:prstGeom>
          <a:solidFill>
            <a:srgbClr val="FFB020">
              <a:alpha val="58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9182927" y="3225598"/>
            <a:ext cx="100447" cy="100447"/>
          </a:xfrm>
          <a:prstGeom prst="ellipse">
            <a:avLst/>
          </a:prstGeom>
          <a:solidFill>
            <a:srgbClr val="FFB020">
              <a:alpha val="71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9283517" y="3221058"/>
            <a:ext cx="115730" cy="115730"/>
          </a:xfrm>
          <a:prstGeom prst="ellipse">
            <a:avLst/>
          </a:prstGeom>
          <a:solidFill>
            <a:srgbClr val="FFB020">
              <a:alpha val="72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9154506" y="3240847"/>
            <a:ext cx="121906" cy="121906"/>
          </a:xfrm>
          <a:prstGeom prst="ellipse">
            <a:avLst/>
          </a:prstGeom>
          <a:solidFill>
            <a:srgbClr val="FFB020">
              <a:alpha val="61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8822574" y="3107990"/>
            <a:ext cx="117812" cy="117812"/>
          </a:xfrm>
          <a:prstGeom prst="ellipse">
            <a:avLst/>
          </a:prstGeom>
          <a:solidFill>
            <a:srgbClr val="FFB020">
              <a:alpha val="81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8979725" y="3120625"/>
            <a:ext cx="119590" cy="119590"/>
          </a:xfrm>
          <a:prstGeom prst="ellipse">
            <a:avLst/>
          </a:prstGeom>
          <a:solidFill>
            <a:srgbClr val="FFB020">
              <a:alpha val="76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9037766" y="3311536"/>
            <a:ext cx="84659" cy="84659"/>
          </a:xfrm>
          <a:prstGeom prst="ellipse">
            <a:avLst/>
          </a:prstGeom>
          <a:solidFill>
            <a:srgbClr val="FFB020">
              <a:alpha val="70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9356204" y="3120397"/>
            <a:ext cx="95774" cy="95774"/>
          </a:xfrm>
          <a:prstGeom prst="ellipse">
            <a:avLst/>
          </a:prstGeom>
          <a:solidFill>
            <a:srgbClr val="FFB020">
              <a:alpha val="58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8990705" y="3253019"/>
            <a:ext cx="88664" cy="88664"/>
          </a:xfrm>
          <a:prstGeom prst="ellipse">
            <a:avLst/>
          </a:prstGeom>
          <a:solidFill>
            <a:srgbClr val="FFB020">
              <a:alpha val="72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9243723" y="3204317"/>
            <a:ext cx="114926" cy="114926"/>
          </a:xfrm>
          <a:prstGeom prst="ellipse">
            <a:avLst/>
          </a:prstGeom>
          <a:solidFill>
            <a:srgbClr val="FFB020">
              <a:alpha val="55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9033712" y="3182332"/>
            <a:ext cx="109474" cy="109474"/>
          </a:xfrm>
          <a:prstGeom prst="ellipse">
            <a:avLst/>
          </a:prstGeom>
          <a:solidFill>
            <a:srgbClr val="FFB020">
              <a:alpha val="64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272088" y="3333833"/>
            <a:ext cx="102048" cy="102048"/>
          </a:xfrm>
          <a:prstGeom prst="ellipse">
            <a:avLst/>
          </a:prstGeom>
          <a:solidFill>
            <a:srgbClr val="FFB020">
              <a:alpha val="55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8782606" y="3239006"/>
            <a:ext cx="75499" cy="75499"/>
          </a:xfrm>
          <a:prstGeom prst="ellipse">
            <a:avLst/>
          </a:prstGeom>
          <a:solidFill>
            <a:srgbClr val="FFB020">
              <a:alpha val="55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8726009" y="3059581"/>
            <a:ext cx="95725" cy="95725"/>
          </a:xfrm>
          <a:prstGeom prst="ellipse">
            <a:avLst/>
          </a:prstGeom>
          <a:solidFill>
            <a:srgbClr val="FFB020">
              <a:alpha val="71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9013210" y="3273227"/>
            <a:ext cx="83402" cy="83402"/>
          </a:xfrm>
          <a:prstGeom prst="ellipse">
            <a:avLst/>
          </a:prstGeom>
          <a:solidFill>
            <a:srgbClr val="FFB020">
              <a:alpha val="61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8868095" y="3277459"/>
            <a:ext cx="123219" cy="123219"/>
          </a:xfrm>
          <a:prstGeom prst="ellipse">
            <a:avLst/>
          </a:prstGeom>
          <a:solidFill>
            <a:srgbClr val="FFB020">
              <a:alpha val="51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9024924" y="3273578"/>
            <a:ext cx="76254" cy="76254"/>
          </a:xfrm>
          <a:prstGeom prst="ellipse">
            <a:avLst/>
          </a:prstGeom>
          <a:solidFill>
            <a:srgbClr val="FFB020">
              <a:alpha val="71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8913874" y="3447299"/>
            <a:ext cx="65888" cy="65888"/>
          </a:xfrm>
          <a:prstGeom prst="ellipse">
            <a:avLst/>
          </a:prstGeom>
          <a:solidFill>
            <a:srgbClr val="FFB020">
              <a:alpha val="85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9016344" y="3221547"/>
            <a:ext cx="111955" cy="111955"/>
          </a:xfrm>
          <a:prstGeom prst="ellipse">
            <a:avLst/>
          </a:prstGeom>
          <a:solidFill>
            <a:srgbClr val="FFB020">
              <a:alpha val="54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8734323" y="3213544"/>
            <a:ext cx="72574" cy="72574"/>
          </a:xfrm>
          <a:prstGeom prst="ellipse">
            <a:avLst/>
          </a:prstGeom>
          <a:solidFill>
            <a:srgbClr val="FFB020">
              <a:alpha val="54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8909329" y="3177721"/>
            <a:ext cx="93376" cy="93376"/>
          </a:xfrm>
          <a:prstGeom prst="ellipse">
            <a:avLst/>
          </a:prstGeom>
          <a:solidFill>
            <a:srgbClr val="FFB020">
              <a:alpha val="71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9033025" y="3257866"/>
            <a:ext cx="74836" cy="74836"/>
          </a:xfrm>
          <a:prstGeom prst="ellipse">
            <a:avLst/>
          </a:prstGeom>
          <a:solidFill>
            <a:srgbClr val="FFB020">
              <a:alpha val="66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9902559" y="2718706"/>
            <a:ext cx="104585" cy="104585"/>
          </a:xfrm>
          <a:prstGeom prst="ellipse">
            <a:avLst/>
          </a:prstGeom>
          <a:solidFill>
            <a:srgbClr val="B56BFF">
              <a:alpha val="52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9985000" y="2756142"/>
            <a:ext cx="70607" cy="70607"/>
          </a:xfrm>
          <a:prstGeom prst="ellipse">
            <a:avLst/>
          </a:prstGeom>
          <a:solidFill>
            <a:srgbClr val="B56BFF">
              <a:alpha val="56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9906260" y="2482427"/>
            <a:ext cx="121035" cy="121035"/>
          </a:xfrm>
          <a:prstGeom prst="ellipse">
            <a:avLst/>
          </a:prstGeom>
          <a:solidFill>
            <a:srgbClr val="B56BFF">
              <a:alpha val="85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10142929" y="2666379"/>
            <a:ext cx="126751" cy="126751"/>
          </a:xfrm>
          <a:prstGeom prst="ellipse">
            <a:avLst/>
          </a:prstGeom>
          <a:solidFill>
            <a:srgbClr val="B56BFF">
              <a:alpha val="57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10010013" y="2740455"/>
            <a:ext cx="77022" cy="77022"/>
          </a:xfrm>
          <a:prstGeom prst="ellipse">
            <a:avLst/>
          </a:prstGeom>
          <a:solidFill>
            <a:srgbClr val="B56BFF">
              <a:alpha val="70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9966594" y="2421427"/>
            <a:ext cx="94691" cy="94691"/>
          </a:xfrm>
          <a:prstGeom prst="ellipse">
            <a:avLst/>
          </a:prstGeom>
          <a:solidFill>
            <a:srgbClr val="B56BFF">
              <a:alpha val="72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9927885" y="2561999"/>
            <a:ext cx="108389" cy="108389"/>
          </a:xfrm>
          <a:prstGeom prst="ellipse">
            <a:avLst/>
          </a:prstGeom>
          <a:solidFill>
            <a:srgbClr val="B56BFF">
              <a:alpha val="79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9672186" y="2530319"/>
            <a:ext cx="116257" cy="116257"/>
          </a:xfrm>
          <a:prstGeom prst="ellipse">
            <a:avLst/>
          </a:prstGeom>
          <a:solidFill>
            <a:srgbClr val="B56BFF">
              <a:alpha val="62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9794546" y="2554661"/>
            <a:ext cx="110168" cy="110168"/>
          </a:xfrm>
          <a:prstGeom prst="ellipse">
            <a:avLst/>
          </a:prstGeom>
          <a:solidFill>
            <a:srgbClr val="B56BFF">
              <a:alpha val="81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9836712" y="2603045"/>
            <a:ext cx="66211" cy="66211"/>
          </a:xfrm>
          <a:prstGeom prst="ellipse">
            <a:avLst/>
          </a:prstGeom>
          <a:solidFill>
            <a:srgbClr val="B56BFF">
              <a:alpha val="82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10044468" y="2677177"/>
            <a:ext cx="74115" cy="74115"/>
          </a:xfrm>
          <a:prstGeom prst="ellipse">
            <a:avLst/>
          </a:prstGeom>
          <a:solidFill>
            <a:srgbClr val="B56BFF">
              <a:alpha val="78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9858818" y="2616869"/>
            <a:ext cx="77015" cy="77015"/>
          </a:xfrm>
          <a:prstGeom prst="ellipse">
            <a:avLst/>
          </a:prstGeom>
          <a:solidFill>
            <a:srgbClr val="B56BFF">
              <a:alpha val="66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9856269" y="2579586"/>
            <a:ext cx="69221" cy="69221"/>
          </a:xfrm>
          <a:prstGeom prst="ellipse">
            <a:avLst/>
          </a:prstGeom>
          <a:solidFill>
            <a:srgbClr val="B56BFF">
              <a:alpha val="62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9737621" y="2617169"/>
            <a:ext cx="115032" cy="115032"/>
          </a:xfrm>
          <a:prstGeom prst="ellipse">
            <a:avLst/>
          </a:prstGeom>
          <a:solidFill>
            <a:srgbClr val="B56BFF">
              <a:alpha val="59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10179915" y="2786972"/>
            <a:ext cx="72801" cy="72801"/>
          </a:xfrm>
          <a:prstGeom prst="ellipse">
            <a:avLst/>
          </a:prstGeom>
          <a:solidFill>
            <a:srgbClr val="B56BFF">
              <a:alpha val="63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9871635" y="2543433"/>
            <a:ext cx="116867" cy="116867"/>
          </a:xfrm>
          <a:prstGeom prst="ellipse">
            <a:avLst/>
          </a:prstGeom>
          <a:solidFill>
            <a:srgbClr val="B56BFF">
              <a:alpha val="67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9654086" y="2622888"/>
            <a:ext cx="82647" cy="82647"/>
          </a:xfrm>
          <a:prstGeom prst="ellipse">
            <a:avLst/>
          </a:prstGeom>
          <a:solidFill>
            <a:srgbClr val="B56BFF">
              <a:alpha val="55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9998605" y="2648041"/>
            <a:ext cx="77982" cy="77982"/>
          </a:xfrm>
          <a:prstGeom prst="ellipse">
            <a:avLst/>
          </a:prstGeom>
          <a:solidFill>
            <a:srgbClr val="B56BFF">
              <a:alpha val="69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9852463" y="2522274"/>
            <a:ext cx="72974" cy="72974"/>
          </a:xfrm>
          <a:prstGeom prst="ellipse">
            <a:avLst/>
          </a:prstGeom>
          <a:solidFill>
            <a:srgbClr val="B56BFF">
              <a:alpha val="66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9810270" y="2548949"/>
            <a:ext cx="115739" cy="115739"/>
          </a:xfrm>
          <a:prstGeom prst="ellipse">
            <a:avLst/>
          </a:prstGeom>
          <a:solidFill>
            <a:srgbClr val="B56BFF">
              <a:alpha val="85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9904466" y="2651981"/>
            <a:ext cx="115782" cy="115782"/>
          </a:xfrm>
          <a:prstGeom prst="ellipse">
            <a:avLst/>
          </a:prstGeom>
          <a:solidFill>
            <a:srgbClr val="B56BFF">
              <a:alpha val="57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9938041" y="2662272"/>
            <a:ext cx="82775" cy="82775"/>
          </a:xfrm>
          <a:prstGeom prst="ellipse">
            <a:avLst/>
          </a:prstGeom>
          <a:solidFill>
            <a:srgbClr val="B56BFF">
              <a:alpha val="61000"/>
            </a:srgbClr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50863" y="5329715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1" name="Image 0" descr="/home/claude/deck/banne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5440680"/>
            <a:ext cx="8229600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6304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carry enormous traffic every second – a mix of normal use and attacks such as DoS, DDoS, port scans and brute-force logins.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 is a core cybersecurity task. Flow records (duration, packets, bytes, flags) summarise every connection without payloads.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720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needed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traffic is unlabeled, so analysts need methods that find structure without ground-truth labels – and make it explorable.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06640" y="146304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635240" y="1554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2.83 M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286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flows analysed (CICIDS2017)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06640" y="306324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635240" y="3154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flow-level features per record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06640" y="466344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635240" y="4754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5486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labels: benign + 14 attack types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92755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problem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918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cannot keep pace with millions of flows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every connection as benign or malicious is infeasible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traffic can blend into normal traffic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29768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195" y="192755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/ challenges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32918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class imbalance: ~83% benign in our sample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Skewed, wide-ranging flow features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cost grows as O(n²) with data size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04672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235" y="192755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32918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analysts in Security Operations Centers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administrators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whose services face DoS, DDoS and scans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174467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46304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a core unsupervised technique; network traffic is a realistic, high-impact data source.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10896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299155"/>
            <a:ext cx="351130" cy="3511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301752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need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analysts triage huge alert volumes. Grouping similar flows reduces what must be inspected by hand.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466344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4853635"/>
            <a:ext cx="351130" cy="35113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08760" y="45720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industry motivation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and anomaly-based intrusion detection is an active area because unlabeled and novel attacks are common.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7498080" y="1463040"/>
            <a:ext cx="4114800" cy="448056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7498080" y="20116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8000" dirty="0"/>
          </a:p>
        </p:txBody>
      </p:sp>
      <p:sp>
        <p:nvSpPr>
          <p:cNvPr id="17" name="Text 11"/>
          <p:cNvSpPr txBox="1"/>
          <p:nvPr/>
        </p:nvSpPr>
        <p:spPr>
          <a:xfrm>
            <a:off x="7818120" y="3474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flows in our sample are benign – malicious traffic hides inside a sea of normal behaviour.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kern="0" spc="30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similar network flows without using labels, and interpret what each group represents through an interactive 3D dashboard.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2103120" cy="28346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931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CICIDS2017 flows: NaN/inf values, duplicates, scaling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2788920" y="3017520"/>
            <a:ext cx="2103120" cy="28346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71800" y="32004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71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3931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small, non-redundant feature set (7 of 78 features)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5029200" y="3017520"/>
            <a:ext cx="2103120" cy="28346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12080" y="32004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120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3931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with K-Means and Ward Hierarchical; choose k using elbow and silhouette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7269480" y="3017520"/>
            <a:ext cx="2103120" cy="28346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52360" y="32004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523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452360" y="3931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both algorithms using three internal cluster-quality metrics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9509760" y="3017520"/>
            <a:ext cx="2103120" cy="28346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692640" y="32004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92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692640" y="3931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and interpret clusters in a Streamlit dashboard with a 3D PCA view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/ rule-based IDS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56032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</a:t>
            </a: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traffic against known attack signatures and rules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</a:t>
            </a: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engines such as Snort and Suricata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novel attacks; rules need constant manual updates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172200" y="146304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18580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ML classifiers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256032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</a:t>
            </a: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on labeled benign / attack examples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</a:t>
            </a: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SVM, neural networks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labeled data; may not generalize to unseen attack types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53035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2960" y="5303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gap: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support for exploring unlabeled traffic and understanding why flows group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clustering of network flows, explored through an interactive 3D dashboard.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21031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unavailable or costly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2103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394960" y="2103120"/>
            <a:ext cx="6217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623560" y="21031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and Hierarchical clustering; the Label column is held out and used only after clustering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7240" y="31546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hard to interpret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31546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5394960" y="3154680"/>
            <a:ext cx="6217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623560" y="31546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feature profiles, 3D PCA view and a click-to-inspect flow panel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20624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42062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features to explain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42062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5394960" y="4206240"/>
            <a:ext cx="6217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623560" y="4206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non-redundant features, scaled, each with a plain-language meaning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2578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77240" y="52578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over-claiming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52578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5394960" y="5257800"/>
            <a:ext cx="6217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5623560" y="52578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keeps cluster output (Panel A) separate from ground-truth profiles (Panel B)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13238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CICIDS2017 CSVs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2004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daily files · 2.83 M flows · 78 features + Label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14600" y="27432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2825496" y="1417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825496" y="178308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054096" y="19659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517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08376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select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008376" y="32004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NaN/inf and duplicates · 7 features · 20,000-flow stratified sample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791456" y="27432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5102352" y="1417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102352" y="178308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330952" y="19659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7373" y="213238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85232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&amp; scale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285232" y="32004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on 2 skewed features · StandardScaler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068312" y="27432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Text 21"/>
          <p:cNvSpPr txBox="1"/>
          <p:nvPr/>
        </p:nvSpPr>
        <p:spPr>
          <a:xfrm>
            <a:off x="7379208" y="1417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379208" y="178308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607808" y="1965960"/>
            <a:ext cx="640080" cy="64008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4229" y="213238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562088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7562088" y="32004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 = 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Hierarchical (k = 4)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345168" y="27432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Text 27"/>
          <p:cNvSpPr txBox="1"/>
          <p:nvPr/>
        </p:nvSpPr>
        <p:spPr>
          <a:xfrm>
            <a:off x="9656064" y="1417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9656064" y="178308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9884664" y="19659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1085" y="2132381"/>
            <a:ext cx="307238" cy="30723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838944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9838944" y="32004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→ 3D view · flow inspector · metrics · profiles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48640" y="484632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77240" y="5074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886" y="5217566"/>
            <a:ext cx="263347" cy="263347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508760" y="4937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· Davies-Bouldin · Calinski-Harabasz · elbow method</a:t>
            </a:r>
            <a:endParaRPr lang="en-US" sz="1500" dirty="0"/>
          </a:p>
        </p:txBody>
      </p:sp>
      <p:sp>
        <p:nvSpPr>
          <p:cNvPr id="44" name="Shape 35"/>
          <p:cNvSpPr/>
          <p:nvPr/>
        </p:nvSpPr>
        <p:spPr>
          <a:xfrm>
            <a:off x="6172200" y="484632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6400800" y="5074920"/>
            <a:ext cx="548640" cy="54864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446" y="5217566"/>
            <a:ext cx="263347" cy="263347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132320" y="4937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column held out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 in training – used only afterwards to interpret clusters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Workflow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combine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CSV files → 2,830,743 flows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55848" y="14630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84448" y="16916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8444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584448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84448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±inf, drop NaN, remove duplicates on all 78 features → 2,520,798 flows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163056" y="14630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91656" y="16916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165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features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78, checked for redundancy with correlation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970264" y="14630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98864" y="16916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9886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9198864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198864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20,000 flows (random_state = 42)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3931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&amp; scale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257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on Flow Duration and Flow Bytes/s, then StandardScaler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3355848" y="3931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584448" y="4160520"/>
            <a:ext cx="548640" cy="54864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58444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3584448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3584448" y="5257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and Ward Hierarchical, k = 4; k chosen with elbow + silhouette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163056" y="3931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391656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91656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6391656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project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6391656" y="5257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internal metrics; PCA reduces to 3 components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8970264" y="3931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198864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98864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4" name="Text 41"/>
          <p:cNvSpPr txBox="1"/>
          <p:nvPr/>
        </p:nvSpPr>
        <p:spPr>
          <a:xfrm>
            <a:off x="9198864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&amp; interpret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9198864" y="5257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dashboard; labels used only after clustering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834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55848" y="14630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84448" y="169164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869" y="18580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84448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584448" y="2834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163056" y="14630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91656" y="169164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077" y="185806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91656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391656" y="2834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(KMeans, AgglomerativeClustering, PCA, metrics), SciPy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970264" y="14630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198864" y="169164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5285" y="185806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98864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9198864" y="2834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Plotly (3D)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548640" y="3931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1" y="4326941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7724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framework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777240" y="5303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3355848" y="3931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584448" y="41605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0869" y="4326941"/>
            <a:ext cx="307238" cy="30723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584448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3584448" y="5303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– no database required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6163056" y="3931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6391656" y="41605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8077" y="4326941"/>
            <a:ext cx="307238" cy="30723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391656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6391656" y="5303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(analysis), PyCharm on Windows (dashboard)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8970264" y="393192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9198864" y="41605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5285" y="4326941"/>
            <a:ext cx="307238" cy="307238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198864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45" name="Text 34"/>
          <p:cNvSpPr txBox="1"/>
          <p:nvPr/>
        </p:nvSpPr>
        <p:spPr>
          <a:xfrm>
            <a:off x="9198864" y="5303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90378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514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and combines the 8 CICIDS2017 CSV files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19037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9496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2514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inf/NaN values, removes duplicates, draws the stratified sample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190378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4400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2514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7 features, applies log1p and StandardScaler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548640" y="37490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1" y="418978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4023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module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82296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and Ward Hierarchical clustering with k selection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4297680" y="37490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72000" y="4023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421" y="4189781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94960" y="4023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interpretation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metrics, cluster profiles, label cross-check</a:t>
            </a:r>
            <a:endParaRPr lang="en-US" sz="1450" dirty="0"/>
          </a:p>
        </p:txBody>
      </p:sp>
      <p:sp>
        <p:nvSpPr>
          <p:cNvPr id="31" name="Shape 23"/>
          <p:cNvSpPr/>
          <p:nvPr/>
        </p:nvSpPr>
        <p:spPr>
          <a:xfrm>
            <a:off x="8046720" y="37490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21040" y="4023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7461" y="4189781"/>
            <a:ext cx="307238" cy="30723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44000" y="4023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&amp; dashboard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832104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PCA view, flow inspector, algorithm toggle, CSV export</a:t>
            </a:r>
            <a:endParaRPr lang="en-US" sz="1450" dirty="0"/>
          </a:p>
        </p:txBody>
      </p:sp>
      <p:sp>
        <p:nvSpPr>
          <p:cNvPr id="36" name="Text 2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here: database, authentication (local single-user prototype).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4630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on the full feature set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±inf, NaN and duplicates using all 78 columns first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65176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Select, sample, transform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features, stratified 20,000 flows, log1p, StandardScaler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8404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k and cluster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for k = 2…8, then K-Means with k = 4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50292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for the dashboard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labels + PCA coordinates saved to one CSV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852160" y="141732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80760" y="160020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dedup on ALL 78 columns, then keep 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= df.replace([np.inf, -np.inf], np.nan).dropna()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= full.drop_duplicates()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= full[final_features + ['Label']]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stratified sample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X_s, _, y_s, _ = train_test_split(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work[final_features], work['Label'],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train_size=20000, stratify=work['Label'],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scale + cluster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StandardScaler().fit_transform(X_log)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KMeans(n_clusters=4, n_init=10,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random_state=42)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km.fit_predict(X)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/ Input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572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2,830,743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 8 CSV files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063240" y="146304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200400" y="1572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78 features + Label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85800" y="3035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2,520,798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after cleaning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063240" y="292608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200400" y="3035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sample clustered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5262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(Canadian Institute for Cybersecurity), Mon–Fri capture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timestamp or IP columns in this release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Missing/inf values come from rate features when duration is 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1417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Flows per traffic label (log scale; 'Web' = web attacks)</a:t>
            </a:r>
            <a:endParaRPr lang="en-US" sz="15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760720" y="1737360"/>
          <a:ext cx="59436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Preprocessing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309360" cy="424281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Duration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the connection lasted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Fwd Packets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volume sent by the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Bytes/s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IAT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gap between packets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Fwd Packet Length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payload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Flag 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Connection-initiation behaviour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Down/Up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vs upload asymmetry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223760" y="1463040"/>
            <a:ext cx="4389120" cy="4242816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49808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decisions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2148840"/>
            <a:ext cx="3886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±inf with NaN, drop NaN rows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on all 78 features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on the two most skewed features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K-Means and Ward are distance-based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separated before training – no leakage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/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56032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flow to the nearest centroid and updates centroids to minimise within-cluster variance.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selected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scalable baseline for scaled numeric features.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· n_init = 10 · random_state = 42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29768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18580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(Ward)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256032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single flows and repeatedly merges the pair of clusters that least increases variance.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selected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preset centroids; dendrogram shows structure; comparable to K-Means.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 · k = 4 · 20,000 flows (O(n²) memory); dendrogram on 2,000-flow subsample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804672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185806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9828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(visualization)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256032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the 7 scaled features onto 3 orthogonal components.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selected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clusters visible and rotatable in 3D.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components ≈ 60% of variance, so distances in the plot are approximate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Algorithm Comparison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201168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 (higher is better)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A5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  (lower is better)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A5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  (higher is better)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A5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5,514.5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5,102.3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589520" y="141732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18120" y="15087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wins on all three metrics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reach only moderate separation (silhouette below 0.4) – real traffic has overlapping behaviour.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Elbow method: inertia vs k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3886200"/>
          <a:ext cx="54864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30936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Silhouette score vs k</a:t>
            </a:r>
            <a:endParaRPr lang="en-US" sz="14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217920" y="3886200"/>
          <a:ext cx="54864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Clusters Mean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73352"/>
            <a:ext cx="274320" cy="274320"/>
          </a:xfrm>
          <a:prstGeom prst="ellipse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1581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probe-like flows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15819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12,433 flows · 62%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1488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 </a:t>
            </a: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 forward packets, ≈ 0.26 s, Down/Up ≈ 0.92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types: </a:t>
            </a: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≈ 99% of PortScan flows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673352"/>
            <a:ext cx="274320" cy="27432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2280" y="1581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Long, slow flows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555480" y="15819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6,419 flows · 32%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1488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 </a:t>
            </a: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49 s, only ≈ 600 bytes/s, Down/Up ≈ 0.35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types: </a:t>
            </a: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≈ 85% of DoS Hulk, ≈ 58% of DDoS, ≈ 96% of SSH-Patator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5661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822192"/>
            <a:ext cx="274320" cy="2743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3730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SYN-heavy flows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3931920" y="3730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945 flows · 4.7%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2976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 </a:t>
            </a: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flag count ≈ 1, Down/Up ≈ 0.07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types: </a:t>
            </a: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≈ 43% of FTP-Patator, ≈ 28% of slowloris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72200" y="35661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3822192"/>
            <a:ext cx="274320" cy="274320"/>
          </a:xfrm>
          <a:prstGeom prst="ellipse">
            <a:avLst/>
          </a:prstGeom>
          <a:solidFill>
            <a:srgbClr val="B56BFF"/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12280" y="3730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Bulk-transfer flows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9555480" y="3730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 flows · 1.0%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42976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 </a:t>
            </a: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1,733-byte average payload, Down/Up ≈ 1.33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types: </a:t>
            </a: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benign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result: clusters group flows by behaviour and attacks concentrate unevenly – but benign flows are the majority in every cluster (69–99%).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Output Demo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6400800" cy="4800600"/>
          </a:xfrm>
          <a:prstGeom prst="roundRect">
            <a:avLst>
              <a:gd name="adj" fmla="val 228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pic>
        <p:nvPicPr>
          <p:cNvPr id="7" name="Image 0" descr="/home/claude/deck/pca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6035040" cy="4526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69480" y="1417320"/>
            <a:ext cx="4343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452360" y="169164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52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1463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&amp; sidebar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count, clusters, evaluation scores; K-Means / Hierarchical toggle and cluster legend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269480" y="2633472"/>
            <a:ext cx="4343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52360" y="2907792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5236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267919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A – 3D clusters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zoom, and click a flow to open the Flow Inspector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269480" y="3849624"/>
            <a:ext cx="4343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52360" y="4123944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45236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138160" y="3895344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B – ground truth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 feature profiles, kept separate from cluster output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269480" y="5065776"/>
            <a:ext cx="4343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452360" y="5340096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5236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138160" y="5111496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&amp; notes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notes and clustered-CSV download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90378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labels needed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never sees the Label column, so it works on unlabeled traffic.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19037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9496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 and explainable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features, each with a plain-language meaning.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04672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190378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4400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exploration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zoom and click-to-inspect instead of static charts.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1" y="42812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evaluation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822960" y="4937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metrics, two algorithms, and ground truth kept separate.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429768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421" y="4281221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94960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a student laptop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0" y="4937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20,000-flow sample and a local Streamlit app.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804672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21040" y="41148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7461" y="4281221"/>
            <a:ext cx="307238" cy="30723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44000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8321040" y="4937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seeds and a documented data-cleaning fix.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174467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4630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triage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flows so analysts review behaviour groups, not millions of rows.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548640" y="27432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2933395"/>
            <a:ext cx="351130" cy="3511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265176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monitoring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normal traffic regimes and spot flows that sit apart from them.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4122115"/>
            <a:ext cx="351130" cy="35113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08760" y="384048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Intrusion-detection support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 unlabeled traffic and guide where to look for attacks.</a:t>
            </a:r>
            <a:endParaRPr lang="en-US" sz="1900" dirty="0"/>
          </a:p>
        </p:txBody>
      </p:sp>
      <p:sp>
        <p:nvSpPr>
          <p:cNvPr id="15" name="Shape 9"/>
          <p:cNvSpPr/>
          <p:nvPr/>
        </p:nvSpPr>
        <p:spPr>
          <a:xfrm>
            <a:off x="548640" y="512064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5310835"/>
            <a:ext cx="351130" cy="35113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508760" y="502920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and research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case study of unsupervised learning on real security data.</a:t>
            </a:r>
            <a:endParaRPr lang="en-US" sz="1900" dirty="0"/>
          </a:p>
        </p:txBody>
      </p:sp>
      <p:sp>
        <p:nvSpPr>
          <p:cNvPr id="18" name="Shape 11"/>
          <p:cNvSpPr/>
          <p:nvPr/>
        </p:nvSpPr>
        <p:spPr>
          <a:xfrm>
            <a:off x="7498080" y="1463040"/>
            <a:ext cx="4114800" cy="466344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777240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 &amp; industries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7772400" y="228600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analysts and SOC teams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administrators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Enterprises, ISPs and campus networks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security researchers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constraints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timestamp or IP columns in this release – hour or month analysis is not possible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lab-generated week (Mon–Fri) of traffic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the sample is benign; rare attacks have very few flows (Bot 15, Web Attack – XSS 5)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172200" y="146304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18580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constraints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260604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a 20,000-flow sample (≈ 0.8% of 2.52 M) because hierarchical clustering is O(n²)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3-component PCA keeps ≈ 60% of variance, so 3D distances are approximate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≈ 0.38 means moderate separation; no cluster is attack-pure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Pattern Clustering  |  ML Case Study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691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the model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6032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behavioural features such as active/idle time and IAT variability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DBSCAN to flag outlier flows as noise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the full dataset with mini-batch K-Means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73736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1691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the data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56032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timestamped release to study hour, day and month patterns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other datasets such as UNSW-NB15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clusters semi-automatically using a few labels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4672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21040" y="1737360"/>
            <a:ext cx="502920" cy="50292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961120" y="1691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scale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56032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live flow records instead of static CSVs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Streamlit dashboard for a team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alerting when flows drift from known clusters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9525">
            <a:solidFill>
              <a:srgbClr val="2633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achieved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unsupervised pipeline on 2.83 M real flows: cleaning, 7-feature selection, K-Means and Ward clustering, three-metric evaluation and a 3D dashboard.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29768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9525">
            <a:solidFill>
              <a:srgbClr val="26334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2860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group traffic by behaviour, and attack types concentrate unevenly – about 99% of PortScan flows fall in the short-flow cluster – yet benign traffic stays the majority in every cluster.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04672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9525">
            <a:solidFill>
              <a:srgbClr val="26334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contribution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2860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reproducible case study that separates what clustering found from what the labels say, and an explorable tool for analysts.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9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2883</Words>
  <Application>Microsoft Office PowerPoint</Application>
  <PresentationFormat>Widescreen</PresentationFormat>
  <Paragraphs>448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Malicious Traffic Pattern Clustering Using K-Means and Hierarchical Clustering</dc:title>
  <dc:subject>PptxGenJS Presentation</dc:subject>
  <dc:creator>PptxGenJS</dc:creator>
  <cp:lastModifiedBy>Lenovo</cp:lastModifiedBy>
  <cp:revision>2</cp:revision>
  <dcterms:created xsi:type="dcterms:W3CDTF">2026-10-14T04:41:48Z</dcterms:created>
  <dcterms:modified xsi:type="dcterms:W3CDTF">2026-10-14T04:47:18Z</dcterms:modified>
</cp:coreProperties>
</file>